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지난주에는 저장 포맷 설계 공간을 발표했고, 오늘은 연구 계획이 왜 바뀌었는지와 수집기가 어디까지 왔는지를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포맷 경쟁은 튜닝 싸움이 되기 쉽다. 실무에서 먼저 묻는 것은 무엇을 버려도 되느냐다.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단계마다 테스트를 붙이며 올라왔다. 6단계에서 실제 3분 수집을 돌려 확인했다.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공식 문서에는 두 스트림의 순번이 같은 공간이라는 보장이 없다. 직접 재서 확인했다.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1874520"/>
            <a:ext cx="854964" cy="155448"/>
          </a:xfrm>
          <a:prstGeom prst="rect">
            <a:avLst/>
          </a:prstGeom>
          <a:solidFill>
            <a:srgbClr val="C2473D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2138782"/>
            <a:ext cx="1243584" cy="155448"/>
          </a:xfrm>
          <a:prstGeom prst="rect">
            <a:avLst/>
          </a:prstGeom>
          <a:solidFill>
            <a:srgbClr val="C2473D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2403043"/>
            <a:ext cx="1554480" cy="155448"/>
          </a:xfrm>
          <a:prstGeom prst="rect">
            <a:avLst/>
          </a:prstGeom>
          <a:solidFill>
            <a:srgbClr val="2E7D5B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2667305"/>
            <a:ext cx="1088136" cy="155448"/>
          </a:xfrm>
          <a:prstGeom prst="rect">
            <a:avLst/>
          </a:prstGeom>
          <a:solidFill>
            <a:srgbClr val="2E7D5B">
              <a:alpha val="7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호가 데이터 축소와 예측 정확도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3580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깊이 · 수량정밀도 · 가격정밀도 · 시간해상도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112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6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계획 변경과 수집기 구현 경과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9834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A9B6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김태우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9B6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순천향대학교 AI · 빅데이터학과 학사과정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9B6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zop1234@hanmail.net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509760" y="5897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2026. 09. 16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8105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변경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1854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포맷 비교에서 축소 대 정확도로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9864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24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수집기 구현 경과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330098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6단계, 테스트 31개 통과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01421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검증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44165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오차가 없는지 어떻게 아는가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12978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24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51572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55321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9월부터 12월 투고까지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149840" y="2103120"/>
            <a:ext cx="754380" cy="137160"/>
          </a:xfrm>
          <a:prstGeom prst="rect">
            <a:avLst/>
          </a:prstGeom>
          <a:solidFill>
            <a:srgbClr val="C2473D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149840" y="2336292"/>
            <a:ext cx="1097280" cy="137160"/>
          </a:xfrm>
          <a:prstGeom prst="rect">
            <a:avLst/>
          </a:prstGeom>
          <a:solidFill>
            <a:srgbClr val="C2473D">
              <a:alpha val="9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149840" y="2569464"/>
            <a:ext cx="1371600" cy="137160"/>
          </a:xfrm>
          <a:prstGeom prst="rect">
            <a:avLst/>
          </a:prstGeom>
          <a:solidFill>
            <a:srgbClr val="2E7D5B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149840" y="2802636"/>
            <a:ext cx="960120" cy="137160"/>
          </a:xfrm>
          <a:prstGeom prst="rect">
            <a:avLst/>
          </a:prstGeom>
          <a:solidFill>
            <a:srgbClr val="2E7D5B">
              <a:alpha val="9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계획 변경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바뀌었다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2834640"/>
          </a:xfrm>
          <a:prstGeom prst="roundRect">
            <a:avLst>
              <a:gd name="adj" fmla="val 1935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783080"/>
            <a:ext cx="5120640" cy="2834640"/>
          </a:xfrm>
          <a:prstGeom prst="roundRect">
            <a:avLst>
              <a:gd name="adj" fmla="val 1935"/>
            </a:avLst>
          </a:prstGeom>
          <a:solidFill>
            <a:srgbClr val="EAF3EE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발표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0487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호가창 스트림 저장 포맷의 설계 공간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546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변환으로 얼마나 작게 저장하나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Parquet · DBN · DuckDB · ClickHouse 와 비교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4종의 지연을 재는 벤치마크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057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계획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40487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축소에 따른 용량과 예측 정확도의 파레토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31546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축으로 줄였을 때 용량이 얼마나 주나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축소가 DeepLOB 정확도를 얼마나 깎나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무해한 축소와 치명적인 축소를 가른다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10881360" cy="868680"/>
          </a:xfrm>
          <a:prstGeom prst="rect">
            <a:avLst/>
          </a:prstGeom>
          <a:solidFill>
            <a:srgbClr val="1B2A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5230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"얼마나 작게 저장하나" 에서 "얼마나 줄여도 되나" 로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계획 변경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바꿨나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75488" cy="47548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5623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7556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설정에 좌우된다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21579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압축 레벨 하나, row group 크기 하나로 용량이 배로 움직인다. 포맷 비교는 튜닝 싸움이 되고 결론이 남지 않는다.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90088"/>
            <a:ext cx="475488" cy="47548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6324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296265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실무의 질문은 따로 있다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36499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저장할 때 실제로 내리는 결정은 깊이를 몇 레벨까지 둘지, 정밀도를 어디까지 버릴지다. 그 손해를 잰 자료가 없다.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197096"/>
            <a:ext cx="475488" cy="475488"/>
          </a:xfrm>
          <a:prstGeom prst="ellipse">
            <a:avLst/>
          </a:prstGeom>
          <a:solidFill>
            <a:srgbClr val="C247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27024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1696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12월 투고에 베이스라인 5종은 과하다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5720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인코더와 조회 계층까지 만들면 실험할 시간이 남지 않는다. 축소 실험은 수집기와 복원기만으로 시작된다.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보류  ·  Tickfold 인코더 · 베이스라인 비교 · 조회 벤치마크는 전역 뒤로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계획 변경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질문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3911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207568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축소에 따라 저장 용량이 얼마나 줄어드는가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862072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11810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6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31546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축소가 DeepLOB 예측 정확도를 얼마나 떨어뜨리는가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19709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4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423367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축소는 거의 손해가 없고 어떤 축소는 치명적인가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138928"/>
            <a:ext cx="10881360" cy="914400"/>
          </a:xfrm>
          <a:prstGeom prst="rect">
            <a:avLst/>
          </a:prstGeom>
          <a:solidFill>
            <a:srgbClr val="F1F4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결과물은 용량과 정확도의 파레토 경계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6692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· 바이낸스 현물 BTCUSDT 한 종목으로 시작, 첫 결과 뒤 8~10 종목으로 확대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계획 변경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축소 네 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029968"/>
            <a:ext cx="146304" cy="14630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07008" y="19385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깊이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359152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N 레벨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 ∈ {5, 10, 20, 50}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834640"/>
            <a:ext cx="4626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기준선 20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0528" y="2029968"/>
            <a:ext cx="146304" cy="146304"/>
          </a:xfrm>
          <a:prstGeom prst="rect">
            <a:avLst/>
          </a:prstGeom>
          <a:solidFill>
            <a:srgbClr val="C247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84848" y="19385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 정밀도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10528" y="2359152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stepSize 배수로 반올림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834640"/>
            <a:ext cx="4626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2자리면 레벨 43% 가 0 이 되어 삭제와 구분 불가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4133088"/>
            <a:ext cx="146304" cy="14630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07008" y="40416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정밀도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4462272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tickSize 배수 m ∈ {1, 10, 100}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937760"/>
            <a:ext cx="4626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m=10 만 돼도 최우선 매수·매도가 83% 시점에서 같은 버킷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0528" y="4133088"/>
            <a:ext cx="146304" cy="146304"/>
          </a:xfrm>
          <a:prstGeom prst="rect">
            <a:avLst/>
          </a:prstGeom>
          <a:solidFill>
            <a:srgbClr val="C247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84848" y="40416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해상도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4462272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100ms 가 원 해상도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10528" y="4937760"/>
            <a:ext cx="4626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스트림이 100ms 배치라 그보다 촘촘한 상태는 없다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축은 저장할 때 내리는 결정 하나에 대응한다. 결과가 곧 저장 설계 지침이다.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구현 경과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157984" cy="1691640"/>
          </a:xfrm>
          <a:prstGeom prst="roundRect">
            <a:avLst>
              <a:gd name="adj" fmla="val 3243"/>
            </a:avLst>
          </a:prstGeom>
          <a:solidFill>
            <a:srgbClr val="EAF3EE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542032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 · REST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순번 검증 · 갭 재동기화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98064" y="2606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DE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80944" y="1965960"/>
            <a:ext cx="2157984" cy="1691640"/>
          </a:xfrm>
          <a:prstGeom prst="roundRect">
            <a:avLst>
              <a:gd name="adj" fmla="val 3243"/>
            </a:avLst>
          </a:prstGeom>
          <a:solidFill>
            <a:srgbClr val="EAF3EE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45536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저장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542032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NDJSON + zstd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종목 / 날짜 / 시간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138928" y="2606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DE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321808" y="1965960"/>
            <a:ext cx="2157984" cy="1691640"/>
          </a:xfrm>
          <a:prstGeom prst="roundRect">
            <a:avLst>
              <a:gd name="adj" fmla="val 3243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0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복원기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49824" y="2542032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200 레벨 배열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100ms 고정 간격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79792" y="2606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DE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62672" y="1965960"/>
            <a:ext cx="2157984" cy="1691640"/>
          </a:xfrm>
          <a:prstGeom prst="roundRect">
            <a:avLst>
              <a:gd name="adj" fmla="val 3243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27264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축소 변환기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90688" y="2542032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축 조합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Parquet + zstd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820656" y="2606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DE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003536" y="1965960"/>
            <a:ext cx="2157984" cy="1691640"/>
          </a:xfrm>
          <a:prstGeom prst="roundRect">
            <a:avLst>
              <a:gd name="adj" fmla="val 3243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68128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131552" y="2542032"/>
            <a:ext cx="1901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DeepLOB 학습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· macro-F1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67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34340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5262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846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20 레벨 대조 · 갭 로그 · 불일치율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25112" y="434340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53712" y="45262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53712" y="4846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· Prometheus · Grafana · 알림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10144" y="434340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38744" y="45262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하네스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238744" y="4846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행렬 · 시드 3회 · 파레토 그림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7150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원본은 깊이 제한 없이 그대로 쌓는다. 축 정의가 바뀌어도 다시 만들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구현 경과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수집기 여섯 단계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01368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562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 이름 조립과 파싱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597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43230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 원본 그대로 저장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63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30358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호가 델타를 호가창에 적용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667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6393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 기록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215384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2702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2428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재동기화 태스크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818888"/>
            <a:ext cx="365760" cy="36576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8737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846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루프와 백오프 재연결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766560" y="1737360"/>
            <a:ext cx="4754880" cy="2286000"/>
          </a:xfrm>
          <a:prstGeom prst="roundRect">
            <a:avLst>
              <a:gd name="adj" fmla="val 2400"/>
            </a:avLst>
          </a:prstGeom>
          <a:solidFill>
            <a:srgbClr val="EAF3EE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86600" y="1965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5600" dirty="0"/>
          </a:p>
        </p:txBody>
      </p:sp>
      <p:sp>
        <p:nvSpPr>
          <p:cNvPr id="24" name="Text 22"/>
          <p:cNvSpPr txBox="1"/>
          <p:nvPr/>
        </p:nvSpPr>
        <p:spPr>
          <a:xfrm>
            <a:off x="7114032" y="2788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통과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없이 0.16초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3520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 · 겹치기 재연결, 상위 20레벨 대조, 진입점과 지표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4224528"/>
            <a:ext cx="4754880" cy="1188720"/>
          </a:xfrm>
          <a:prstGeom prst="roundRect">
            <a:avLst>
              <a:gd name="adj" fmla="val 4615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86600" y="4434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수집기 3모듈 · 소스 400줄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4754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orderbook.py · binance_rest.py · writer.py · binance_stream.py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구현 경과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갭이 나면 무엇을 멈추나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914400"/>
          </a:xfrm>
          <a:prstGeom prst="rect">
            <a:avLst/>
          </a:prstGeom>
          <a:solidFill>
            <a:srgbClr val="1B2A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9476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저장은 멈추지 않는다. 무효가 되는 것은 호가창뿐이다.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3502152" cy="1920240"/>
          </a:xfrm>
          <a:prstGeom prst="roundRect">
            <a:avLst>
              <a:gd name="adj" fmla="val 2857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3182112"/>
            <a:ext cx="146304" cy="14630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34290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 처리는 기다리지 않는다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023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handle() 은 동기 함수다. 스냅샷을 그 자리에서 기다리면 그동안 소켓을 못 읽는다.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2926080"/>
            <a:ext cx="3502152" cy="1920240"/>
          </a:xfrm>
          <a:prstGeom prst="roundRect">
            <a:avLst>
              <a:gd name="adj" fmla="val 2857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81144" y="3182112"/>
            <a:ext cx="146304" cy="146304"/>
          </a:xfrm>
          <a:prstGeom prst="rect">
            <a:avLst/>
          </a:prstGeom>
          <a:solidFill>
            <a:srgbClr val="C247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81144" y="34290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스트림이면 초당 55 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4023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스냅샷 왕복 500ms 면 27 개가 큐에 쌓인다. 그래서 재동기화는 별도 태스크로 던진다.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2926080"/>
            <a:ext cx="3502152" cy="1920240"/>
          </a:xfrm>
          <a:prstGeom prst="roundRect">
            <a:avLst>
              <a:gd name="adj" fmla="val 2857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3182112"/>
            <a:ext cx="146304" cy="14630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66176" y="34290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버퍼가 받아준다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4023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동기화 전에 들어온 델타는 버퍼에 쌓였다가 스냅샷을 받은 뒤 순서대로 한 번에 적용된다.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1389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 기록은 원본과 같은 폴더에 남는다. 갭 파일이 있다는 것 자체가 신호다.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50468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2026-09-15 / 11.gap.ndjson.zst  →  { last_u, U, u, missed 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데이터 검증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오차가 없는지 어떻게 아는가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증명할 수 없고 증명할 것도 아니다. 어떤 오차를 어떻게 잡았고 남은 불일치율이 얼마인지를 말한다.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881360" cy="822960"/>
          </a:xfrm>
          <a:prstGeom prst="roundRect">
            <a:avLst>
              <a:gd name="adj" fmla="val 5556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2951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13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순번 사슬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3225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 와 u 로 빠진 메시지를 잡는다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23225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4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로직 버그는 못 잡는다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26664"/>
            <a:ext cx="10881360" cy="822960"/>
          </a:xfrm>
          <a:prstGeom prst="roundRect">
            <a:avLst>
              <a:gd name="adj" fmla="val 5556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32644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2826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불변식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최우선 매수 &lt; 매도, 호가 단위 배수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4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값이 그럴듯하게 틀리면 통과한다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95928"/>
            <a:ext cx="10881360" cy="822960"/>
          </a:xfrm>
          <a:prstGeom prst="roundRect">
            <a:avLst>
              <a:gd name="adj" fmla="val 5556"/>
            </a:avLst>
          </a:prstGeom>
          <a:solidFill>
            <a:srgbClr val="EAF3EE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42336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251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 채널 대조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42611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거래소가 따로 주는 상태와 비교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4261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로직 버그를 잡는 유일한 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965192"/>
            <a:ext cx="10881360" cy="822960"/>
          </a:xfrm>
          <a:prstGeom prst="roundRect">
            <a:avLst>
              <a:gd name="adj" fmla="val 5556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2688" y="52029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2212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파이프라인 무결성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5230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해시 · 매니페스트 · 재생 결정성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5230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247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저장과 복원이 라이브와 같은가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논문에는 커버리지, 재동기화 횟수, 불일치율을 분모와 함께 싣는다.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데이터 검증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거래소가 채점표를 같이 준다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577840" cy="2148840"/>
          </a:xfrm>
          <a:prstGeom prst="roundRect">
            <a:avLst>
              <a:gd name="adj" fmla="val 2553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9385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호가 델타  @depth@100ms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33172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바뀐 레벨만 온다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 와 u 로 순서를 잇는다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깊이 제한이 없다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하나라도 빠지면 뒤가 전부 틀어진다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92240" y="1737360"/>
            <a:ext cx="5577840" cy="2148840"/>
          </a:xfrm>
          <a:prstGeom prst="roundRect">
            <a:avLst>
              <a:gd name="adj" fmla="val 2553"/>
            </a:avLst>
          </a:prstGeom>
          <a:solidFill>
            <a:srgbClr val="EAF3EE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84848" y="19385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호가  @depth20@100ms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84848" y="233172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20 레벨 전부가 온다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자체로 완성된 상태다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놓쳐도 다음 것만 받으면 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만든 호가창의 채점표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881360" cy="1783080"/>
          </a:xfrm>
          <a:prstGeom prst="rect">
            <a:avLst/>
          </a:prstGeom>
          <a:solidFill>
            <a:srgbClr val="1B2A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4348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1798 / 1798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51389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6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호가의 lastUpdateId 가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9B6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호가 델타의 u 와 정확히 일치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452628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100ms 마다 재구성한 상위 20 레벨을 거래소가 보낸 값과 문자열 단위로 비교할 수 있다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86만 회 대조가 대역폭 13KB/s 로 생긴다. REST 폴링보다 네 자릿수 촘촘하다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수집에서 불일치 0 건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데이터 검증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 수집 실측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02152" cy="1188720"/>
          </a:xfrm>
          <a:prstGeom prst="roundRect">
            <a:avLst>
              <a:gd name="adj" fmla="val 4615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01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87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 건수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737360"/>
            <a:ext cx="3502152" cy="1188720"/>
          </a:xfrm>
          <a:prstGeom prst="roundRect">
            <a:avLst>
              <a:gd name="adj" fmla="val 4615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1144" y="1901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5,171 / 5,003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581144" y="2487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 후 매수 / 매도 레벨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10144" y="1737360"/>
            <a:ext cx="3502152" cy="1188720"/>
          </a:xfrm>
          <a:prstGeom prst="roundRect">
            <a:avLst>
              <a:gd name="adj" fmla="val 4615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6176" y="1901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틱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266176" y="2487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최우선 호가 스프레드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스트림별 압축비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47872"/>
          <a:ext cx="5577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128016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스트림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압축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호가 델타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1.20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171 KB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7.0 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부분 호가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2.52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58 KB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43.5 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0.44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KB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14.8 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스냅샷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0.32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 KB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5.8 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492240" y="3154680"/>
            <a:ext cx="5577840" cy="1783080"/>
          </a:xfrm>
          <a:prstGeom prst="roundRect">
            <a:avLst>
              <a:gd name="adj" fmla="val 3077"/>
            </a:avLst>
          </a:prstGeom>
          <a:solidFill>
            <a:srgbClr val="EAF3EE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84848" y="33649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환산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784848" y="3703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2.2 GB  →  151 MB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6784848" y="4297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종목 하나 기준. 90일이면 압축 13GB 로 디스크 여유 827GB 안에 넉넉히 들어간다.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138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20 매수가 3.9 USDT 에 걸쳐 있고 그 구간 틱 391 칸 중 5% 만 주문이 차 있다. 가격 축을 거칠게 하면 같은 레벨 수가 훨씬 깊은 범위를 덮는다.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일정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9월부터 12월까지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97480" cy="2286000"/>
          </a:xfrm>
          <a:prstGeom prst="roundRect">
            <a:avLst>
              <a:gd name="adj" fmla="val 2400"/>
            </a:avLst>
          </a:prstGeom>
          <a:solidFill>
            <a:srgbClr val="1B2A33"/>
          </a:solidFill>
          <a:ln w="9525">
            <a:solidFill>
              <a:srgbClr val="1B2A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93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871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수집기 완성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수집 시작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01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72시간 무중단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84448" y="1783080"/>
            <a:ext cx="2697480" cy="2286000"/>
          </a:xfrm>
          <a:prstGeom prst="roundRect">
            <a:avLst>
              <a:gd name="adj" fmla="val 2400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13048" y="1993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813048" y="24871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복원기 · 축소 변환기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파이프라인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13048" y="3401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깊이 20 vs 10 첫 결과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28816" y="1783080"/>
            <a:ext cx="2697480" cy="2286000"/>
          </a:xfrm>
          <a:prstGeom prst="roundRect">
            <a:avLst>
              <a:gd name="adj" fmla="val 2400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57416" y="1993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757416" y="24871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행렬 전체 실행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57416" y="3401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파레토 그림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73184" y="1783080"/>
            <a:ext cx="2697480" cy="2286000"/>
          </a:xfrm>
          <a:prstGeom prst="roundRect">
            <a:avLst>
              <a:gd name="adj" fmla="val 2400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01784" y="1993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12월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701784" y="24871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집필 · 투고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701784" y="3401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저널 투고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72시간 무중단 판정 기준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681728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프로세스 재시작 0 회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미복구 갭 0 회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20 레벨 대조 불일치율 0.01% 미만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갭 없는 시간 비율 99.9% 이상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4315968"/>
            <a:ext cx="5577840" cy="1600200"/>
          </a:xfrm>
          <a:prstGeom prst="roundRect">
            <a:avLst>
              <a:gd name="adj" fmla="val 3429"/>
            </a:avLst>
          </a:prstGeom>
          <a:solidFill>
            <a:srgbClr val="F1F4F5"/>
          </a:solidFill>
          <a:ln w="9525">
            <a:solidFill>
              <a:srgbClr val="D8DE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84848" y="44988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작업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784848" y="48463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겹치기 재연결 · 24시간 강제 종료 대비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20 레벨 대조 구현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6B7A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진입점 · 지표 · 운영 스택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854964" cy="155448"/>
          </a:xfrm>
          <a:prstGeom prst="rect">
            <a:avLst/>
          </a:prstGeom>
          <a:solidFill>
            <a:srgbClr val="C2473D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550262"/>
            <a:ext cx="1243584" cy="155448"/>
          </a:xfrm>
          <a:prstGeom prst="rect">
            <a:avLst/>
          </a:prstGeom>
          <a:solidFill>
            <a:srgbClr val="C2473D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814523"/>
            <a:ext cx="1554480" cy="155448"/>
          </a:xfrm>
          <a:prstGeom prst="rect">
            <a:avLst/>
          </a:prstGeom>
          <a:solidFill>
            <a:srgbClr val="2E7D5B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3078785"/>
            <a:ext cx="1088136" cy="155448"/>
          </a:xfrm>
          <a:prstGeom prst="rect">
            <a:avLst/>
          </a:prstGeom>
          <a:solidFill>
            <a:srgbClr val="2E7D5B">
              <a:alpha val="7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200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69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spc="300" kern="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120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A9B6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김태우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9B6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순천향대학교 AI · 빅데이터학과 학사과정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9B6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zop1234@hanmail.net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호가 데이터 축소와 예측 정확도</dc:title>
  <dc:subject>PptxGenJS Presentation</dc:subject>
  <dc:creator>김태우</dc:creator>
  <cp:lastModifiedBy>김태우</cp:lastModifiedBy>
  <cp:revision>1</cp:revision>
  <dcterms:created xsi:type="dcterms:W3CDTF">2026-09-15T12:21:12Z</dcterms:created>
  <dcterms:modified xsi:type="dcterms:W3CDTF">2026-09-15T12:21:12Z</dcterms:modified>
</cp:coreProperties>
</file>